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134993-4411-4205-B0FD-C23DC585A7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1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53B01F-62E2-4264-9EA1-07EB1E64409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143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102018"/>
                </a:solidFill>
              </a:defRPr>
            </a:pPr>
            <a:r>
              <a:rPr sz="3900" b="1">
                <a:solidFill>
                  <a:srgbClr val="102018"/>
                </a:solidFill>
              </a:rPr>
              <a:t>Semantička segmentacija anomalija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F935D-B3E7-489B-8480-A7B9D5FAC62B}"/>
              </a:ext>
            </a:extLst>
          </p:cNvPr>
          <p:cNvSpPr>
            <a:spLocks noGrp="1"/>
          </p:cNvSpPr>
          <p:nvPr/>
        </p:nvSpPr>
        <p:spPr>
          <a:xfrm>
            <a:off x="704850" y="338137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F6F4E"/>
                </a:solidFill>
              </a:defRPr>
            </a:pPr>
            <a:r>
              <a:rPr sz="1950" b="1">
                <a:solidFill>
                  <a:srgbClr val="2F6F4E"/>
                </a:solidFill>
              </a:rPr>
              <a:t>Agriculture-Vision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332FD9-0D3C-4714-B4B9-C555208A211F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B665E"/>
                </a:solidFill>
              </a:defRPr>
            </a:pPr>
            <a:r>
              <a:rPr sz="1800" b="0" dirty="0">
                <a:solidFill>
                  <a:srgbClr val="5B665E"/>
                </a:solidFill>
              </a:rPr>
              <a:t>RGB slika -&gt; maska po pikselima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D535B-D6A9-417F-8AA2-08C26CA0D069}"/>
              </a:ext>
            </a:extLst>
          </p:cNvPr>
          <p:cNvSpPr>
            <a:spLocks noGrp="1"/>
          </p:cNvSpPr>
          <p:nvPr/>
        </p:nvSpPr>
        <p:spPr>
          <a:xfrm>
            <a:off x="704850" y="5619749"/>
            <a:ext cx="4953000" cy="6504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65E"/>
                </a:solidFill>
              </a:defRPr>
            </a:pPr>
            <a:r>
              <a:rPr sz="1350" b="0" dirty="0">
                <a:solidFill>
                  <a:srgbClr val="5B665E"/>
                </a:solidFill>
              </a:rPr>
              <a:t>Bojan </a:t>
            </a:r>
            <a:r>
              <a:rPr sz="1350" b="0" dirty="0" smtClean="0">
                <a:solidFill>
                  <a:srgbClr val="5B665E"/>
                </a:solidFill>
              </a:rPr>
              <a:t>Jović</a:t>
            </a:r>
            <a:r>
              <a:rPr lang="en-GB" sz="1350" b="0" dirty="0" smtClean="0">
                <a:solidFill>
                  <a:srgbClr val="5B665E"/>
                </a:solidFill>
              </a:rPr>
              <a:t> RA 115/2023</a:t>
            </a:r>
          </a:p>
          <a:p>
            <a:pPr>
              <a:defRPr sz="1350" b="0">
                <a:solidFill>
                  <a:srgbClr val="5B665E"/>
                </a:solidFill>
              </a:defRPr>
            </a:pPr>
            <a:r>
              <a:rPr lang="en-US" sz="1350" dirty="0" smtClean="0">
                <a:solidFill>
                  <a:srgbClr val="5B665E"/>
                </a:solidFill>
              </a:rPr>
              <a:t>Luka Grozdanić </a:t>
            </a:r>
            <a:r>
              <a:rPr lang="en-GB" sz="1350" dirty="0">
                <a:solidFill>
                  <a:srgbClr val="5B665E"/>
                </a:solidFill>
              </a:rPr>
              <a:t>RA </a:t>
            </a:r>
            <a:r>
              <a:rPr lang="en-GB" sz="1350" dirty="0" smtClean="0">
                <a:solidFill>
                  <a:srgbClr val="5B665E"/>
                </a:solidFill>
              </a:rPr>
              <a:t>96/2023</a:t>
            </a:r>
            <a:endParaRPr lang="en-GB" sz="1350" dirty="0">
              <a:solidFill>
                <a:srgbClr val="5B665E"/>
              </a:solidFill>
            </a:endParaRPr>
          </a:p>
          <a:p>
            <a:pPr>
              <a:defRPr sz="1350" b="0">
                <a:solidFill>
                  <a:srgbClr val="5B665E"/>
                </a:solidFill>
              </a:defRPr>
            </a:pPr>
            <a:endParaRPr sz="1350" b="0" dirty="0">
              <a:solidFill>
                <a:srgbClr val="5B665E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253" y="0"/>
            <a:ext cx="6201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1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71BF77-257F-4874-828A-02C86C1ECE4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92633F-F67D-45D6-8822-007FAE0CC34F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DEFINICIJA ZADATKA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A4CB6-3E7E-4114-8DB1-72071DF3658D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654698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 dirty="0">
                <a:solidFill>
                  <a:srgbClr val="102018"/>
                </a:solidFill>
              </a:rPr>
              <a:t>Model predviđa klasu za </a:t>
            </a:r>
            <a:r>
              <a:rPr sz="3150" b="1" dirty="0" smtClean="0">
                <a:solidFill>
                  <a:srgbClr val="102018"/>
                </a:solidFill>
              </a:rPr>
              <a:t>svaki</a:t>
            </a:r>
            <a:r>
              <a:rPr lang="en-GB" sz="3150" b="1" dirty="0" smtClean="0">
                <a:solidFill>
                  <a:srgbClr val="102018"/>
                </a:solidFill>
              </a:rPr>
              <a:t> </a:t>
            </a:r>
            <a:r>
              <a:rPr sz="3150" b="1" dirty="0" smtClean="0">
                <a:solidFill>
                  <a:srgbClr val="102018"/>
                </a:solidFill>
              </a:rPr>
              <a:t>piksel</a:t>
            </a:r>
            <a:endParaRPr sz="3150" b="1" dirty="0">
              <a:solidFill>
                <a:srgbClr val="102018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F31FA0-1BEF-497B-BFE7-761B9400A855}"/>
              </a:ext>
            </a:extLst>
          </p:cNvPr>
          <p:cNvSpPr>
            <a:spLocks noGrp="1"/>
          </p:cNvSpPr>
          <p:nvPr/>
        </p:nvSpPr>
        <p:spPr>
          <a:xfrm>
            <a:off x="647471" y="1679121"/>
            <a:ext cx="6359979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 dirty="0">
                <a:solidFill>
                  <a:srgbClr val="5B665E"/>
                </a:solidFill>
              </a:rPr>
              <a:t>Ne klasifikujemo cijelu sliku, nego pravimo masku iste veličine kao ulaz.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D065EE-CE63-4945-9CD7-C001F287FD42}"/>
              </a:ext>
            </a:extLst>
          </p:cNvPr>
          <p:cNvSpPr>
            <a:spLocks noGrp="1"/>
          </p:cNvSpPr>
          <p:nvPr/>
        </p:nvSpPr>
        <p:spPr>
          <a:xfrm>
            <a:off x="1124373" y="2618209"/>
            <a:ext cx="1619250" cy="438150"/>
          </a:xfrm>
          <a:prstGeom prst="roundRect">
            <a:avLst>
              <a:gd name="adj" fmla="val 26087"/>
            </a:avLst>
          </a:prstGeom>
          <a:solidFill>
            <a:srgbClr val="DDEBD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DB87A-B09E-4A60-822C-267CFD7C56DA}"/>
              </a:ext>
            </a:extLst>
          </p:cNvPr>
          <p:cNvSpPr>
            <a:spLocks noGrp="1"/>
          </p:cNvSpPr>
          <p:nvPr/>
        </p:nvSpPr>
        <p:spPr>
          <a:xfrm>
            <a:off x="1276773" y="2713459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Ulaz: RGB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856410-05DC-4F5A-BF32-B8C4086247CF}"/>
              </a:ext>
            </a:extLst>
          </p:cNvPr>
          <p:cNvSpPr>
            <a:spLocks noGrp="1"/>
          </p:cNvSpPr>
          <p:nvPr/>
        </p:nvSpPr>
        <p:spPr>
          <a:xfrm>
            <a:off x="4571841" y="2586913"/>
            <a:ext cx="1809750" cy="438150"/>
          </a:xfrm>
          <a:prstGeom prst="roundRect">
            <a:avLst>
              <a:gd name="adj" fmla="val 26087"/>
            </a:avLst>
          </a:prstGeom>
          <a:solidFill>
            <a:srgbClr val="DDEBD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406A79-B662-40EF-A58B-C433DE4894BC}"/>
              </a:ext>
            </a:extLst>
          </p:cNvPr>
          <p:cNvSpPr>
            <a:spLocks noGrp="1"/>
          </p:cNvSpPr>
          <p:nvPr/>
        </p:nvSpPr>
        <p:spPr>
          <a:xfrm>
            <a:off x="4724241" y="2682163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Izlaz: maska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F5F51F6-42FF-4DF9-80D4-935DA84EB7BF}"/>
              </a:ext>
            </a:extLst>
          </p:cNvPr>
          <p:cNvSpPr>
            <a:spLocks noGrp="1"/>
          </p:cNvSpPr>
          <p:nvPr/>
        </p:nvSpPr>
        <p:spPr>
          <a:xfrm>
            <a:off x="9092293" y="2330512"/>
            <a:ext cx="1238250" cy="438150"/>
          </a:xfrm>
          <a:prstGeom prst="roundRect">
            <a:avLst>
              <a:gd name="adj" fmla="val 26087"/>
            </a:avLst>
          </a:prstGeom>
          <a:solidFill>
            <a:srgbClr val="DDEBD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D88A6-1BCC-4144-83DB-D827A1D9AFD0}"/>
              </a:ext>
            </a:extLst>
          </p:cNvPr>
          <p:cNvSpPr>
            <a:spLocks noGrp="1"/>
          </p:cNvSpPr>
          <p:nvPr/>
        </p:nvSpPr>
        <p:spPr>
          <a:xfrm>
            <a:off x="9244693" y="2425762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6 klasa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89881"/>
            <a:ext cx="2648795" cy="26487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216" y="3156058"/>
            <a:ext cx="2667000" cy="26368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01075" y="3095817"/>
            <a:ext cx="2914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B665E"/>
                </a:solidFill>
              </a:rPr>
              <a:t>b</a:t>
            </a:r>
            <a:r>
              <a:rPr lang="en-US" dirty="0" smtClean="0">
                <a:solidFill>
                  <a:srgbClr val="5B665E"/>
                </a:solidFill>
              </a:rPr>
              <a:t>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5B665E"/>
                </a:solidFill>
              </a:rPr>
              <a:t>double plant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5B665E"/>
                </a:solidFill>
              </a:rPr>
              <a:t>planter skip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5B665E"/>
                </a:solidFill>
              </a:rPr>
              <a:t> </a:t>
            </a:r>
            <a:r>
              <a:rPr lang="en-US" dirty="0">
                <a:solidFill>
                  <a:srgbClr val="5B665E"/>
                </a:solidFill>
              </a:rPr>
              <a:t>standing </a:t>
            </a:r>
            <a:r>
              <a:rPr lang="en-US" dirty="0" smtClean="0">
                <a:solidFill>
                  <a:srgbClr val="5B665E"/>
                </a:solidFill>
              </a:rPr>
              <a:t>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5B665E"/>
                </a:solidFill>
              </a:rPr>
              <a:t> waterway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5B665E"/>
                </a:solidFill>
              </a:rPr>
              <a:t> </a:t>
            </a:r>
            <a:r>
              <a:rPr lang="en-US" dirty="0">
                <a:solidFill>
                  <a:srgbClr val="5B665E"/>
                </a:solidFill>
              </a:rPr>
              <a:t>weed cluster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1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5CB0AE1-57FF-4479-BC1D-8A3BE66C3C6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98A587-F68B-4B43-ACCE-B4A058642EB3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DATASET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C07F1-5582-439E-B931-BC292B4515AB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Od više binarnih maski do jedne multiclass maske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2C3CD-AAA8-4C8C-895D-597D9640D56D}"/>
              </a:ext>
            </a:extLst>
          </p:cNvPr>
          <p:cNvSpPr>
            <a:spLocks noGrp="1"/>
          </p:cNvSpPr>
          <p:nvPr/>
        </p:nvSpPr>
        <p:spPr>
          <a:xfrm>
            <a:off x="5714853" y="1309613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>
                <a:solidFill>
                  <a:srgbClr val="5B665E"/>
                </a:solidFill>
              </a:rPr>
              <a:t>Agriculture-Vision labele su organizovane po klasama, pa ih loader spaja u jednu masku.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D9516B-E231-4CC2-93D9-E2A41EE00FF5}"/>
              </a:ext>
            </a:extLst>
          </p:cNvPr>
          <p:cNvSpPr>
            <a:spLocks noGrp="1"/>
          </p:cNvSpPr>
          <p:nvPr/>
        </p:nvSpPr>
        <p:spPr>
          <a:xfrm>
            <a:off x="998785" y="2131401"/>
            <a:ext cx="16192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3D85-8EDC-4518-A192-FE48456C9955}"/>
              </a:ext>
            </a:extLst>
          </p:cNvPr>
          <p:cNvSpPr>
            <a:spLocks noGrp="1"/>
          </p:cNvSpPr>
          <p:nvPr/>
        </p:nvSpPr>
        <p:spPr>
          <a:xfrm>
            <a:off x="1151185" y="2226651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RGB slika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25CCC7-E000-4429-860F-409FDCBC3A06}"/>
              </a:ext>
            </a:extLst>
          </p:cNvPr>
          <p:cNvSpPr>
            <a:spLocks noGrp="1"/>
          </p:cNvSpPr>
          <p:nvPr/>
        </p:nvSpPr>
        <p:spPr>
          <a:xfrm>
            <a:off x="2713285" y="2179026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F6F4E"/>
                </a:solidFill>
              </a:defRPr>
            </a:pPr>
            <a:r>
              <a:rPr sz="2250" b="1">
                <a:solidFill>
                  <a:srgbClr val="2F6F4E"/>
                </a:solidFill>
              </a:rPr>
              <a:t>→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95F512-020E-4D22-A8D9-3595C73FA465}"/>
              </a:ext>
            </a:extLst>
          </p:cNvPr>
          <p:cNvSpPr>
            <a:spLocks noGrp="1"/>
          </p:cNvSpPr>
          <p:nvPr/>
        </p:nvSpPr>
        <p:spPr>
          <a:xfrm>
            <a:off x="3475285" y="2131401"/>
            <a:ext cx="22860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D3312A-6BA6-4546-8843-4466AFAA496A}"/>
              </a:ext>
            </a:extLst>
          </p:cNvPr>
          <p:cNvSpPr>
            <a:spLocks noGrp="1"/>
          </p:cNvSpPr>
          <p:nvPr/>
        </p:nvSpPr>
        <p:spPr>
          <a:xfrm>
            <a:off x="3627685" y="2226651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maske po klasama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0CA65C-AF14-4A0E-A6AB-AFFD8DE1D4C9}"/>
              </a:ext>
            </a:extLst>
          </p:cNvPr>
          <p:cNvSpPr>
            <a:spLocks noGrp="1"/>
          </p:cNvSpPr>
          <p:nvPr/>
        </p:nvSpPr>
        <p:spPr>
          <a:xfrm>
            <a:off x="5856535" y="2179026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F6F4E"/>
                </a:solidFill>
              </a:defRPr>
            </a:pPr>
            <a:r>
              <a:rPr sz="2250" b="1">
                <a:solidFill>
                  <a:srgbClr val="2F6F4E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54F033-D65F-443C-85E0-219B50303A3A}"/>
              </a:ext>
            </a:extLst>
          </p:cNvPr>
          <p:cNvSpPr>
            <a:spLocks noGrp="1"/>
          </p:cNvSpPr>
          <p:nvPr/>
        </p:nvSpPr>
        <p:spPr>
          <a:xfrm>
            <a:off x="6618535" y="2131401"/>
            <a:ext cx="23812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5531D0-BCA7-4F91-8A28-F698384096A7}"/>
              </a:ext>
            </a:extLst>
          </p:cNvPr>
          <p:cNvSpPr>
            <a:spLocks noGrp="1"/>
          </p:cNvSpPr>
          <p:nvPr/>
        </p:nvSpPr>
        <p:spPr>
          <a:xfrm>
            <a:off x="6770935" y="2226651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>
                <a:solidFill>
                  <a:srgbClr val="173222"/>
                </a:solidFill>
              </a:rPr>
              <a:t>multiclass maska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8433A3-4F81-4EA3-8486-A4039DF28064}"/>
              </a:ext>
            </a:extLst>
          </p:cNvPr>
          <p:cNvSpPr>
            <a:spLocks noGrp="1"/>
          </p:cNvSpPr>
          <p:nvPr/>
        </p:nvSpPr>
        <p:spPr>
          <a:xfrm>
            <a:off x="9095035" y="2179026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F6F4E"/>
                </a:solidFill>
              </a:defRPr>
            </a:pPr>
            <a:r>
              <a:rPr sz="2250" b="1">
                <a:solidFill>
                  <a:srgbClr val="2F6F4E"/>
                </a:solidFill>
              </a:rP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B742B2-3B86-4A08-AE41-5F9D20763E9C}"/>
              </a:ext>
            </a:extLst>
          </p:cNvPr>
          <p:cNvSpPr>
            <a:spLocks noGrp="1"/>
          </p:cNvSpPr>
          <p:nvPr/>
        </p:nvSpPr>
        <p:spPr>
          <a:xfrm>
            <a:off x="9857035" y="2131401"/>
            <a:ext cx="14287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FF894E-7C69-421B-8979-54D0379580E7}"/>
              </a:ext>
            </a:extLst>
          </p:cNvPr>
          <p:cNvSpPr>
            <a:spLocks noGrp="1"/>
          </p:cNvSpPr>
          <p:nvPr/>
        </p:nvSpPr>
        <p:spPr>
          <a:xfrm>
            <a:off x="10009435" y="2226651"/>
            <a:ext cx="112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>
                <a:solidFill>
                  <a:srgbClr val="173222"/>
                </a:solidFill>
              </a:rPr>
              <a:t>valid mask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/>
          <a:srcRect l="1082" t="1532"/>
          <a:stretch/>
        </p:blipFill>
        <p:spPr>
          <a:xfrm>
            <a:off x="1424650" y="2871713"/>
            <a:ext cx="9503396" cy="33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1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FC72BF-9151-443D-83FD-E71A3D1D06A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98B57-377B-402B-85E7-5E99C3387FFE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BASELINE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564F0B-8FAE-4BF1-8C21-8C7499A269DF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Baseline je postavio polaznu tačku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38F85A-060D-4D9F-BA3B-2CF077D2C062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 dirty="0">
                <a:solidFill>
                  <a:srgbClr val="5B665E"/>
                </a:solidFill>
              </a:rPr>
              <a:t>Prvi eksperiment: U-Net sa ResNet-50 encoderom, bez augmentacija.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CBA225-11DB-4B01-A1DF-64C1F67664AE}"/>
              </a:ext>
            </a:extLst>
          </p:cNvPr>
          <p:cNvSpPr>
            <a:spLocks noGrp="1"/>
          </p:cNvSpPr>
          <p:nvPr/>
        </p:nvSpPr>
        <p:spPr>
          <a:xfrm>
            <a:off x="6074229" y="1076325"/>
            <a:ext cx="5355771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74A66A"/>
            </a:solidFill>
            <a:prstDash val="dash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EAAEA-4970-4C1D-B530-EB09FB266796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F6F4E"/>
                </a:solidFill>
              </a:defRPr>
            </a:pPr>
            <a:r>
              <a:rPr sz="2250" b="1">
                <a:solidFill>
                  <a:srgbClr val="2F6F4E"/>
                </a:solidFill>
              </a:rPr>
              <a:t>U-Net + ResNet-50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9B85E-A0A1-4E4C-B33D-9FAFF2F5B84C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018"/>
                </a:solidFill>
              </a:defRPr>
            </a:pPr>
            <a:r>
              <a:rPr sz="3000" b="1">
                <a:solidFill>
                  <a:srgbClr val="102018"/>
                </a:solidFill>
              </a:rPr>
              <a:t>mIoU = 0.4892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905" y="1237084"/>
            <a:ext cx="5157755" cy="386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5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76CCFE-60A5-47B4-ACFD-3133EE1BE0C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59A472-F25B-46CE-8F3E-BE38E6A68D42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LOSS I METRIKA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A36510-04FD-4983-8B28-12E65DB431E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Model uči iz greške po pikselima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AE79D4-2FC5-4942-BE71-160D8051F076}"/>
              </a:ext>
            </a:extLst>
          </p:cNvPr>
          <p:cNvSpPr>
            <a:spLocks noGrp="1"/>
          </p:cNvSpPr>
          <p:nvPr/>
        </p:nvSpPr>
        <p:spPr>
          <a:xfrm>
            <a:off x="609600" y="2087047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 dirty="0">
                <a:solidFill>
                  <a:srgbClr val="5B665E"/>
                </a:solidFill>
              </a:rPr>
              <a:t>Cross-Entropy kažnjava pogrešnu klasu, a Dice mjeri preklapanje maski.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3F664A-B9C3-4EFC-878B-D37B49454389}"/>
              </a:ext>
            </a:extLst>
          </p:cNvPr>
          <p:cNvSpPr>
            <a:spLocks noGrp="1"/>
          </p:cNvSpPr>
          <p:nvPr/>
        </p:nvSpPr>
        <p:spPr>
          <a:xfrm>
            <a:off x="7946967" y="3733548"/>
            <a:ext cx="16192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B643FA-500E-48D5-8794-26A922EEBB7A}"/>
              </a:ext>
            </a:extLst>
          </p:cNvPr>
          <p:cNvSpPr>
            <a:spLocks noGrp="1"/>
          </p:cNvSpPr>
          <p:nvPr/>
        </p:nvSpPr>
        <p:spPr>
          <a:xfrm>
            <a:off x="8099367" y="3828798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Dice Loss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433FC6-C060-49AE-867B-CEE18C4094A8}"/>
              </a:ext>
            </a:extLst>
          </p:cNvPr>
          <p:cNvSpPr>
            <a:spLocks noGrp="1"/>
          </p:cNvSpPr>
          <p:nvPr/>
        </p:nvSpPr>
        <p:spPr>
          <a:xfrm>
            <a:off x="1989559" y="3313505"/>
            <a:ext cx="10477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44AC67-6041-441F-B67C-008559ACE7B1}"/>
              </a:ext>
            </a:extLst>
          </p:cNvPr>
          <p:cNvSpPr>
            <a:spLocks noGrp="1"/>
          </p:cNvSpPr>
          <p:nvPr/>
        </p:nvSpPr>
        <p:spPr>
          <a:xfrm>
            <a:off x="2136038" y="3380536"/>
            <a:ext cx="74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mIoU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BAC9D8-ECA2-4660-AAF5-B21FAEF8E353}"/>
              </a:ext>
            </a:extLst>
          </p:cNvPr>
          <p:cNvSpPr>
            <a:spLocks noGrp="1"/>
          </p:cNvSpPr>
          <p:nvPr/>
        </p:nvSpPr>
        <p:spPr>
          <a:xfrm>
            <a:off x="388485" y="6012091"/>
            <a:ext cx="4139098" cy="235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65E"/>
                </a:solidFill>
              </a:defRPr>
            </a:pPr>
            <a:r>
              <a:rPr sz="1125" b="0" dirty="0">
                <a:solidFill>
                  <a:srgbClr val="5B665E"/>
                </a:solidFill>
              </a:rPr>
              <a:t>mIoU = prosjek preklapanja predikcije i stvarne maske kroz klase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523" y="743537"/>
            <a:ext cx="4384124" cy="292274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199" y="4266948"/>
            <a:ext cx="4483969" cy="2389737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71B9D0-2D76-4D89-9676-B829E4F9A2D3}"/>
              </a:ext>
            </a:extLst>
          </p:cNvPr>
          <p:cNvSpPr>
            <a:spLocks noGrp="1"/>
          </p:cNvSpPr>
          <p:nvPr/>
        </p:nvSpPr>
        <p:spPr>
          <a:xfrm>
            <a:off x="7623117" y="238125"/>
            <a:ext cx="2095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55E5D5-40DF-4BEC-A6CC-5B2B51631BC9}"/>
              </a:ext>
            </a:extLst>
          </p:cNvPr>
          <p:cNvSpPr>
            <a:spLocks noGrp="1"/>
          </p:cNvSpPr>
          <p:nvPr/>
        </p:nvSpPr>
        <p:spPr>
          <a:xfrm>
            <a:off x="7775517" y="3333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222"/>
                </a:solidFill>
              </a:defRPr>
            </a:pPr>
            <a:r>
              <a:rPr sz="1350" b="1" dirty="0">
                <a:solidFill>
                  <a:srgbClr val="173222"/>
                </a:solidFill>
              </a:rPr>
              <a:t>Cross-Entropy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66" y="3957867"/>
            <a:ext cx="4371098" cy="202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70EB49-CFE2-4AA8-A4C3-4652391F889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040332-F058-43F5-B8F7-70C8898C3115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AUGMENTACIJE I DISBALANS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A698B-9545-4DE2-B3F4-5BA04CB9BE7C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Augmentacije su poboljšale ResNet-50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0A978-C401-4CDE-9A48-EA10E10AD4EE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>
                <a:solidFill>
                  <a:srgbClr val="5B665E"/>
                </a:solidFill>
              </a:rPr>
              <a:t>Transformacije se primjenjuju i na sliku i na masku, da par ostane ispravan.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F3000-94EE-494B-83C8-94E4EB314C21}"/>
              </a:ext>
            </a:extLst>
          </p:cNvPr>
          <p:cNvSpPr>
            <a:spLocks noGrp="1"/>
          </p:cNvSpPr>
          <p:nvPr/>
        </p:nvSpPr>
        <p:spPr>
          <a:xfrm>
            <a:off x="907914" y="3186112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F6F4E"/>
                </a:solidFill>
              </a:defRPr>
            </a:pPr>
            <a:r>
              <a:rPr sz="1950" b="1" dirty="0">
                <a:solidFill>
                  <a:srgbClr val="2F6F4E"/>
                </a:solidFill>
              </a:rPr>
              <a:t>full aug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847DFB-82C5-4AD9-AF0B-0F6FCC5A8730}"/>
              </a:ext>
            </a:extLst>
          </p:cNvPr>
          <p:cNvSpPr>
            <a:spLocks noGrp="1"/>
          </p:cNvSpPr>
          <p:nvPr/>
        </p:nvSpPr>
        <p:spPr>
          <a:xfrm>
            <a:off x="907914" y="3567112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02018"/>
                </a:solidFill>
              </a:defRPr>
            </a:pPr>
            <a:r>
              <a:rPr sz="2850" b="1" dirty="0" smtClean="0">
                <a:solidFill>
                  <a:srgbClr val="102018"/>
                </a:solidFill>
              </a:rPr>
              <a:t>mIoU = 0.5331</a:t>
            </a:r>
            <a:endParaRPr sz="2850" b="1" dirty="0">
              <a:solidFill>
                <a:srgbClr val="102018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2F9A01-49DA-4B06-A1F1-AEF84DD44E60}"/>
              </a:ext>
            </a:extLst>
          </p:cNvPr>
          <p:cNvSpPr>
            <a:spLocks noGrp="1"/>
          </p:cNvSpPr>
          <p:nvPr/>
        </p:nvSpPr>
        <p:spPr>
          <a:xfrm>
            <a:off x="808805" y="4386048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65E"/>
                </a:solidFill>
              </a:defRPr>
            </a:pPr>
            <a:r>
              <a:rPr sz="1400" b="0" dirty="0" smtClean="0">
                <a:solidFill>
                  <a:srgbClr val="5B665E"/>
                </a:solidFill>
              </a:rPr>
              <a:t>Class weights su testirani zbog rijetkih klasa, ali nisu </a:t>
            </a:r>
            <a:endParaRPr lang="en-GB" sz="1400" b="0" dirty="0" smtClean="0">
              <a:solidFill>
                <a:srgbClr val="5B665E"/>
              </a:solidFill>
            </a:endParaRPr>
          </a:p>
          <a:p>
            <a:pPr algn="l">
              <a:defRPr sz="1125" b="0">
                <a:solidFill>
                  <a:srgbClr val="5B665E"/>
                </a:solidFill>
              </a:defRPr>
            </a:pPr>
            <a:r>
              <a:rPr sz="1400" b="0" dirty="0" smtClean="0">
                <a:solidFill>
                  <a:srgbClr val="5B665E"/>
                </a:solidFill>
              </a:rPr>
              <a:t>nadmašili najbolji standardni setup.</a:t>
            </a:r>
            <a:endParaRPr sz="1400" b="0" dirty="0">
              <a:solidFill>
                <a:srgbClr val="5B665E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177" y="697071"/>
            <a:ext cx="5272185" cy="53404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914685"/>
            <a:ext cx="4895030" cy="154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90A63-9965-4B26-B863-F2146E20C8A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5D9E0C-5C7C-45BD-A30B-AB3E4E19B069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EFFICIENTNET-B3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C7534-4D9C-4EE6-A94A-C5C75E3F3FCB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Jači CNN encoder je podigao rezultat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77D53B-6B90-48F5-927B-5BEA8797AA5E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>
                <a:solidFill>
                  <a:srgbClr val="5B665E"/>
                </a:solidFill>
              </a:rPr>
              <a:t>Arhitektura ostaje U-Net, ali ResNet-50 mijenjamo EfficientNet-B3 encoderom.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397AE8D-B71E-4FE6-B00A-7166C1CCA2DC}"/>
              </a:ext>
            </a:extLst>
          </p:cNvPr>
          <p:cNvSpPr>
            <a:spLocks noGrp="1"/>
          </p:cNvSpPr>
          <p:nvPr/>
        </p:nvSpPr>
        <p:spPr>
          <a:xfrm>
            <a:off x="9593625" y="457200"/>
            <a:ext cx="1817711" cy="376723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74A66A"/>
            </a:solidFill>
            <a:prstDash val="dash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DFC52-04BD-4712-A68A-BE4434625267}"/>
              </a:ext>
            </a:extLst>
          </p:cNvPr>
          <p:cNvSpPr>
            <a:spLocks noGrp="1"/>
          </p:cNvSpPr>
          <p:nvPr/>
        </p:nvSpPr>
        <p:spPr>
          <a:xfrm>
            <a:off x="9560969" y="495300"/>
            <a:ext cx="1923661" cy="381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4E"/>
                </a:solidFill>
              </a:defRPr>
            </a:pPr>
            <a:r>
              <a:rPr lang="en-GB" sz="1400" b="1" dirty="0" smtClean="0">
                <a:solidFill>
                  <a:srgbClr val="2F6F4E"/>
                </a:solidFill>
              </a:rPr>
              <a:t>Ground truth SLIKA</a:t>
            </a:r>
            <a:endParaRPr sz="1400" b="1" dirty="0">
              <a:solidFill>
                <a:srgbClr val="2F6F4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6172C2-106A-4FBD-8E72-3B9B82D3F6FF}"/>
              </a:ext>
            </a:extLst>
          </p:cNvPr>
          <p:cNvSpPr>
            <a:spLocks noGrp="1"/>
          </p:cNvSpPr>
          <p:nvPr/>
        </p:nvSpPr>
        <p:spPr>
          <a:xfrm>
            <a:off x="914400" y="3219611"/>
            <a:ext cx="361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 dirty="0">
                <a:solidFill>
                  <a:srgbClr val="102018"/>
                </a:solidFill>
              </a:rPr>
              <a:t>mIoU = 0.5587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BA099-6C88-4368-9F43-542D496EF0AE}"/>
              </a:ext>
            </a:extLst>
          </p:cNvPr>
          <p:cNvSpPr>
            <a:spLocks noGrp="1"/>
          </p:cNvSpPr>
          <p:nvPr/>
        </p:nvSpPr>
        <p:spPr>
          <a:xfrm>
            <a:off x="914400" y="3698389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F6F4E"/>
                </a:solidFill>
              </a:defRPr>
            </a:pPr>
            <a:r>
              <a:rPr sz="1650" b="1" dirty="0">
                <a:solidFill>
                  <a:srgbClr val="2F6F4E"/>
                </a:solidFill>
              </a:rPr>
              <a:t>najbolji CNN rezultat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717" y="954209"/>
            <a:ext cx="2456332" cy="24563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565" y="972317"/>
            <a:ext cx="2465602" cy="24377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687" y="4078076"/>
            <a:ext cx="2465602" cy="2437794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97AE8D-B71E-4FE6-B00A-7166C1CCA2DC}"/>
              </a:ext>
            </a:extLst>
          </p:cNvPr>
          <p:cNvSpPr>
            <a:spLocks noGrp="1"/>
          </p:cNvSpPr>
          <p:nvPr/>
        </p:nvSpPr>
        <p:spPr>
          <a:xfrm>
            <a:off x="6952471" y="463847"/>
            <a:ext cx="1224254" cy="376723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74A66A"/>
            </a:solidFill>
            <a:prstDash val="dash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EDFC52-04BD-4712-A68A-BE4434625267}"/>
              </a:ext>
            </a:extLst>
          </p:cNvPr>
          <p:cNvSpPr>
            <a:spLocks noGrp="1"/>
          </p:cNvSpPr>
          <p:nvPr/>
        </p:nvSpPr>
        <p:spPr>
          <a:xfrm>
            <a:off x="6919814" y="520607"/>
            <a:ext cx="1256911" cy="381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4E"/>
                </a:solidFill>
              </a:defRPr>
            </a:pPr>
            <a:r>
              <a:rPr lang="en-GB" sz="1400" b="1" dirty="0" smtClean="0">
                <a:solidFill>
                  <a:srgbClr val="2F6F4E"/>
                </a:solidFill>
              </a:rPr>
              <a:t>RGB SLIKA</a:t>
            </a:r>
            <a:endParaRPr sz="1400" b="1" dirty="0">
              <a:solidFill>
                <a:srgbClr val="2F6F4E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397AE8D-B71E-4FE6-B00A-7166C1CCA2DC}"/>
              </a:ext>
            </a:extLst>
          </p:cNvPr>
          <p:cNvSpPr>
            <a:spLocks noGrp="1"/>
          </p:cNvSpPr>
          <p:nvPr/>
        </p:nvSpPr>
        <p:spPr>
          <a:xfrm>
            <a:off x="8036766" y="3583700"/>
            <a:ext cx="1817711" cy="376723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74A66A"/>
            </a:solidFill>
            <a:prstDash val="dash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EDFC52-04BD-4712-A68A-BE4434625267}"/>
              </a:ext>
            </a:extLst>
          </p:cNvPr>
          <p:cNvSpPr>
            <a:spLocks noGrp="1"/>
          </p:cNvSpPr>
          <p:nvPr/>
        </p:nvSpPr>
        <p:spPr>
          <a:xfrm>
            <a:off x="8004110" y="3621800"/>
            <a:ext cx="1923661" cy="381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6F4E"/>
                </a:solidFill>
              </a:defRPr>
            </a:pPr>
            <a:r>
              <a:rPr lang="en-GB" sz="1400" b="1" dirty="0" smtClean="0">
                <a:solidFill>
                  <a:srgbClr val="2F6F4E"/>
                </a:solidFill>
              </a:rPr>
              <a:t>SLIKA PREDIKCIJE</a:t>
            </a:r>
            <a:endParaRPr sz="1400" b="1" dirty="0">
              <a:solidFill>
                <a:srgbClr val="2F6F4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" y="4203375"/>
            <a:ext cx="4931617" cy="260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8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B5966A-6F75-4260-9BA8-6B873F2B385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81A63-CB04-4988-A8C3-3C40B79973C2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DINOV3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579D9-FF16-4953-9468-5500A1EC0268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Transformer backbone daje najveći skok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2A77A6-D39C-4FC8-9480-44771D576D77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>
                <a:solidFill>
                  <a:srgbClr val="5B665E"/>
                </a:solidFill>
              </a:rPr>
              <a:t>DINOv3 dijeli sliku na patcheve i iz njih gradi reprezentacije za segmentacionu glavu.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C528B-992A-4166-82F5-DC83F812A4B3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F6F4E"/>
                </a:solidFill>
              </a:defRPr>
            </a:pPr>
            <a:r>
              <a:rPr sz="2100" b="1">
                <a:solidFill>
                  <a:srgbClr val="2F6F4E"/>
                </a:solidFill>
              </a:rPr>
              <a:t>DINOv3 + segmentaciona glava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9CF80E-F025-4FF1-8CD2-74AD590978B0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mIoU = 0.6943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065" y="1096736"/>
            <a:ext cx="61436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2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CBCA05-7520-4CE9-BCCB-D190DC808EC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F4E"/>
                </a:solidFill>
              </a:defRPr>
            </a:pPr>
            <a:r>
              <a:rPr sz="1200" b="1">
                <a:solidFill>
                  <a:srgbClr val="2F6F4E"/>
                </a:solidFill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03B56-210C-4BCE-AE42-3DC410C8E5C6}"/>
              </a:ext>
            </a:extLst>
          </p:cNvPr>
          <p:cNvSpPr>
            <a:spLocks noGrp="1"/>
          </p:cNvSpPr>
          <p:nvPr/>
        </p:nvSpPr>
        <p:spPr>
          <a:xfrm>
            <a:off x="1181100" y="4572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665E"/>
                </a:solidFill>
              </a:defRPr>
            </a:pPr>
            <a:r>
              <a:rPr sz="1050" b="1">
                <a:solidFill>
                  <a:srgbClr val="5B665E"/>
                </a:solidFill>
              </a:rPr>
              <a:t>ZAKLJUČAK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10053F-A6C9-42BF-9F4D-17FBCFBD686B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018"/>
                </a:solidFill>
              </a:defRPr>
            </a:pPr>
            <a:r>
              <a:rPr sz="3150" b="1">
                <a:solidFill>
                  <a:srgbClr val="102018"/>
                </a:solidFill>
              </a:rPr>
              <a:t>Najbolji rezultat daje DINOv3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8A4F1-E948-4AE5-8110-FF81A986875A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65E"/>
                </a:solidFill>
              </a:defRPr>
            </a:pPr>
            <a:r>
              <a:rPr sz="1575" b="0">
                <a:solidFill>
                  <a:srgbClr val="5B665E"/>
                </a:solidFill>
              </a:rPr>
              <a:t>Pipeline pokriva dataset loader, trening, evaluaciju, poređenje modela i primjere predikcija.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B518B-C325-46B4-B8F0-A0C378ACF6FD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B665E"/>
                </a:solidFill>
              </a:defRPr>
            </a:pPr>
            <a:r>
              <a:rPr sz="1650" b="0">
                <a:solidFill>
                  <a:srgbClr val="5B665E"/>
                </a:solidFill>
              </a:rPr>
              <a:t>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568D6C-0E7D-4449-91A9-6795035B6096}"/>
              </a:ext>
            </a:extLst>
          </p:cNvPr>
          <p:cNvSpPr>
            <a:spLocks noGrp="1"/>
          </p:cNvSpPr>
          <p:nvPr/>
        </p:nvSpPr>
        <p:spPr>
          <a:xfrm>
            <a:off x="3429000" y="3790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018"/>
                </a:solidFill>
              </a:defRPr>
            </a:pPr>
            <a:r>
              <a:rPr sz="1800" b="1">
                <a:solidFill>
                  <a:srgbClr val="102018"/>
                </a:solidFill>
              </a:rPr>
              <a:t>0.4892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01D44-D22C-4872-B57A-E79D316CE5F2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B665E"/>
                </a:solidFill>
              </a:defRPr>
            </a:pPr>
            <a:r>
              <a:rPr sz="1650" b="0">
                <a:solidFill>
                  <a:srgbClr val="5B665E"/>
                </a:solidFill>
              </a:rPr>
              <a:t>ResNet full aug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401B49-ECB4-49A5-8095-59E191F699AB}"/>
              </a:ext>
            </a:extLst>
          </p:cNvPr>
          <p:cNvSpPr>
            <a:spLocks noGrp="1"/>
          </p:cNvSpPr>
          <p:nvPr/>
        </p:nvSpPr>
        <p:spPr>
          <a:xfrm>
            <a:off x="3429000" y="42481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018"/>
                </a:solidFill>
              </a:defRPr>
            </a:pPr>
            <a:r>
              <a:rPr sz="1800" b="1">
                <a:solidFill>
                  <a:srgbClr val="102018"/>
                </a:solidFill>
              </a:rPr>
              <a:t>0.5331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3C301B-096A-4F18-8EBE-CAEE457C4406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B665E"/>
                </a:solidFill>
              </a:defRPr>
            </a:pPr>
            <a:r>
              <a:rPr sz="1650" b="0">
                <a:solidFill>
                  <a:srgbClr val="5B665E"/>
                </a:solidFill>
              </a:rPr>
              <a:t>EfficientNet-B3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697036-0CDC-418E-90B7-C9C84F7FAEB0}"/>
              </a:ext>
            </a:extLst>
          </p:cNvPr>
          <p:cNvSpPr>
            <a:spLocks noGrp="1"/>
          </p:cNvSpPr>
          <p:nvPr/>
        </p:nvSpPr>
        <p:spPr>
          <a:xfrm>
            <a:off x="3429000" y="47053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018"/>
                </a:solidFill>
              </a:defRPr>
            </a:pPr>
            <a:r>
              <a:rPr sz="1800" b="1">
                <a:solidFill>
                  <a:srgbClr val="102018"/>
                </a:solidFill>
              </a:rPr>
              <a:t>0.5587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B0695-1687-4115-BF9A-D98E4F45DE7D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B665E"/>
                </a:solidFill>
              </a:defRPr>
            </a:pPr>
            <a:r>
              <a:rPr sz="1650" b="0">
                <a:solidFill>
                  <a:srgbClr val="5B665E"/>
                </a:solidFill>
              </a:rPr>
              <a:t>DINOv3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1D766-51BA-4BBC-B6C3-BE2C73F6FA70}"/>
              </a:ext>
            </a:extLst>
          </p:cNvPr>
          <p:cNvSpPr>
            <a:spLocks noGrp="1"/>
          </p:cNvSpPr>
          <p:nvPr/>
        </p:nvSpPr>
        <p:spPr>
          <a:xfrm>
            <a:off x="3429000" y="51625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F6F4E"/>
                </a:solidFill>
              </a:defRPr>
            </a:pPr>
            <a:r>
              <a:rPr sz="1800" b="1">
                <a:solidFill>
                  <a:srgbClr val="2F6F4E"/>
                </a:solidFill>
              </a:rPr>
              <a:t>0.6943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37" y="2130186"/>
            <a:ext cx="6692805" cy="286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8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292</Words>
  <Application>Microsoft Office PowerPoint</Application>
  <DocSecurity>0</DocSecurity>
  <PresentationFormat>Widescreen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Luka Grozdanic</cp:lastModifiedBy>
  <cp:revision>14</cp:revision>
  <dcterms:created xsi:type="dcterms:W3CDTF">2026-07-04T13:33:18Z</dcterms:created>
  <dcterms:modified xsi:type="dcterms:W3CDTF">2026-07-05T13:50:11Z</dcterms:modified>
</cp:coreProperties>
</file>